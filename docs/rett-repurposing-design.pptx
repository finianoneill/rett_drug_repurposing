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DESIGN DOCUMENT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Rett Syndrome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1214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B4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Drug Repurposing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658368" y="3017520"/>
            <a:ext cx="1097280" cy="36576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154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in-silico repurposing system for rare disease — built to learn neurodevelopmental biology, exercise modern agentic patterns, and explore the NVIDIA BioNeMo ecosystem.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Finian O'Neill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46634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· Hobby Project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6858000" y="3657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 Syndrome Drug Repurposing  ·  Project Design Document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46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"/>
            <a:ext cx="45720" cy="65836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41148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685800"/>
            <a:ext cx="8065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twin of the experimental decision loop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publicly available agentic system that reasons over public biomedical data and ranks off-patent compounds as repurposing candidates for Rett syndrome. The architecture mirrors how preclinical teams actually work: hypothesis → assay → readout → updated belief → next hypothesis.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4068" y="25146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4068" y="2514600"/>
            <a:ext cx="54864" cy="169164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2" name="Text 10"/>
          <p:cNvSpPr/>
          <p:nvPr/>
        </p:nvSpPr>
        <p:spPr>
          <a:xfrm>
            <a:off x="708660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B4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45236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the biology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5236" y="3474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Internalize neurodevelopmental rare-disease biology by working a real repurposing pipeline end-to-end.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8980" y="25146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8980" y="2514600"/>
            <a:ext cx="54864" cy="169164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7" name="Text 15"/>
          <p:cNvSpPr/>
          <p:nvPr/>
        </p:nvSpPr>
        <p:spPr>
          <a:xfrm>
            <a:off x="3433572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B4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470148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meaningful agent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0148" y="3474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substantive agentic system outside the constraints of enterprise infrastructure.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93892" y="25146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93892" y="2514600"/>
            <a:ext cx="54864" cy="169164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2" name="Text 20"/>
          <p:cNvSpPr/>
          <p:nvPr/>
        </p:nvSpPr>
        <p:spPr>
          <a:xfrm>
            <a:off x="6158484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B4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9506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 BioNeMo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95060" y="3474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NVIDIA's BioNeMo ecosystem in the places where it earns its keep — deferred to v1.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NOT a digital twin of laboratory equipment. The interesting abstraction is a twin of the experimental decision loop, not the bench.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 Syndrome Drug Repurposing  ·  Project Design Document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46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Why Rett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"/>
            <a:ext cx="45720" cy="65836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41148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RETT SYNDROME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685800"/>
            <a:ext cx="8065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converging reasons it fits a hobby-scale repurposing project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417320"/>
            <a:ext cx="54864" cy="3200400"/>
          </a:xfrm>
          <a:prstGeom prst="rect">
            <a:avLst/>
          </a:prstGeom>
          <a:solidFill>
            <a:srgbClr val="B47B5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645920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69848" y="1691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2648" y="21305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built-in oracle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12648" y="2697480"/>
            <a:ext cx="548640" cy="1828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" y="2788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Trofinetide (Daybue) — FDA-approved 2023, first disease-modifying treatment for Rett — emerged from exactly the pathway-driven repurposing reasoning this system aims to automate.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2648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our pipeline ranks IGF-1, BDNF, NMDA, or sigma-1 modulators in its top results, the methodology is working.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0" y="141732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0" y="1417320"/>
            <a:ext cx="54864" cy="3200400"/>
          </a:xfrm>
          <a:prstGeom prst="rect">
            <a:avLst/>
          </a:prstGeom>
          <a:solidFill>
            <a:srgbClr val="B47B5A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645920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58768" y="1691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401568" y="21305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gene, undruggable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3401568" y="2697480"/>
            <a:ext cx="548640" cy="1828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3" name="Text 19"/>
          <p:cNvSpPr/>
          <p:nvPr/>
        </p:nvSpPr>
        <p:spPr>
          <a:xfrm>
            <a:off x="3401568" y="2788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 is caused by loss-of-function mutations in MECP2 — a chromatin reader, not an enzyme. There is no druggable pocket on MECP2 itself.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401568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agent to reason about pathway context rather than direct binding. Pedagogically ideal.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989320" y="141732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989320" y="1417320"/>
            <a:ext cx="54864" cy="3200400"/>
          </a:xfrm>
          <a:prstGeom prst="rect">
            <a:avLst/>
          </a:prstGeom>
          <a:solidFill>
            <a:srgbClr val="B47B5A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645920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647688" y="1691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190488" y="21305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Rich, license-clean public data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6190488" y="2697480"/>
            <a:ext cx="548640" cy="1828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1" name="Text 26"/>
          <p:cNvSpPr/>
          <p:nvPr/>
        </p:nvSpPr>
        <p:spPr>
          <a:xfrm>
            <a:off x="6190488" y="2788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coverage in Open Targets, GEO (Mecp2-null mouse expression), ChEMBL, LINCS, and rare-disease ontologies.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190488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signal in public data alone to do this work credibly.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 Syndrome Drug Repurposing  ·  Project Design Document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46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Why Rett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"/>
            <a:ext cx="45720" cy="65836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41148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TROFINETIDE ORACLE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685800"/>
            <a:ext cx="8065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unusually clean validation story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691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APPROVED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92024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8400" dirty="0"/>
          </a:p>
        </p:txBody>
      </p:sp>
      <p:sp>
        <p:nvSpPr>
          <p:cNvPr id="12" name="Shape 10"/>
          <p:cNvSpPr/>
          <p:nvPr/>
        </p:nvSpPr>
        <p:spPr>
          <a:xfrm>
            <a:off x="822960" y="3200400"/>
            <a:ext cx="640080" cy="36576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Trofinetide (Daybue)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960" y="3749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disease-modifying treatment for Rett syndrome — an IGF-1 analog whose development emerged from pathway-driven repurposing reasoning.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for v0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754880" y="1801368"/>
            <a:ext cx="457200" cy="27432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9202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</a:t>
            </a:r>
            <a:pPr indent="0" marL="0">
              <a:buNone/>
            </a:pPr>
            <a:r>
              <a:rPr lang="en-US" sz="12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used to surface novel candidates, the trofinetide oracle gives an empirical check on the methodology. If the pipeline ranks </a:t>
            </a:r>
            <a:pPr indent="0" marL="0">
              <a:buNone/>
            </a:pPr>
            <a:r>
              <a:rPr lang="en-US" sz="1200" b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IGF-1 axis modulators, BDNF-pathway compounds, NMDA modulators, or sigma-1 agonists </a:t>
            </a:r>
            <a:pPr indent="0" marL="0">
              <a:buNone/>
            </a:pPr>
            <a:r>
              <a:rPr lang="en-US" sz="12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its top results — the methodology is working.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291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CLASSES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3657600"/>
            <a:ext cx="45720" cy="4572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5844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IGF-1 axis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858768"/>
            <a:ext cx="45720" cy="4572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78561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BDNF / TrkB pathway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4059936"/>
            <a:ext cx="45720" cy="4572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98678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NMDA modulators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4261104"/>
            <a:ext cx="45720" cy="4572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41879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Sigma-1 agonists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4462272"/>
            <a:ext cx="45720" cy="4572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43891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KCC2 enhancers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 Syndrome Drug Repurposing  ·  Project Design Document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46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Biology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"/>
            <a:ext cx="45720" cy="65836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41148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BIOLOGY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685800"/>
            <a:ext cx="8065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MECP2 and the regression that follows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783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MECP2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22960" y="2286000"/>
            <a:ext cx="548640" cy="27432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423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X-linked gene encoding methyl-CpG-binding protein 2. A global regulator of gene expression that binds methylated DNA — a chromatin reader, not an enzyme.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3429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X-LINKAGE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" y="3703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exclusively affects females (heterozygous, mosaic expression due to X-inactivation). Affected males typically do not survive infancy.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1417320"/>
            <a:ext cx="54864" cy="3200400"/>
          </a:xfrm>
          <a:prstGeom prst="rect">
            <a:avLst/>
          </a:prstGeom>
          <a:solidFill>
            <a:srgbClr val="B47B5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9164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40680" y="1709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Disease Course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4937760" y="2240280"/>
            <a:ext cx="548640" cy="27432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1" name="Text 17"/>
          <p:cNvSpPr/>
          <p:nvPr/>
        </p:nvSpPr>
        <p:spPr>
          <a:xfrm>
            <a:off x="4937760" y="23774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Apparently normal early development, followed by regression at roughly 6–18 months: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937760" y="3017520"/>
            <a:ext cx="54864" cy="5486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3" name="Text 19"/>
          <p:cNvSpPr/>
          <p:nvPr/>
        </p:nvSpPr>
        <p:spPr>
          <a:xfrm>
            <a:off x="5074920" y="2926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acquired speech and purposeful hand use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937760" y="3291840"/>
            <a:ext cx="54864" cy="5486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5" name="Text 21"/>
          <p:cNvSpPr/>
          <p:nvPr/>
        </p:nvSpPr>
        <p:spPr>
          <a:xfrm>
            <a:off x="5074920" y="3200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Stereotyped hand movements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937760" y="3566160"/>
            <a:ext cx="54864" cy="5486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7492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abnormalities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937760" y="3840480"/>
            <a:ext cx="54864" cy="5486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9" name="Text 25"/>
          <p:cNvSpPr/>
          <p:nvPr/>
        </p:nvSpPr>
        <p:spPr>
          <a:xfrm>
            <a:off x="5074920" y="3749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irregularities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937760" y="4114800"/>
            <a:ext cx="54864" cy="5486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1" name="Text 27"/>
          <p:cNvSpPr/>
          <p:nvPr/>
        </p:nvSpPr>
        <p:spPr>
          <a:xfrm>
            <a:off x="5074920" y="40233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Seizures and autonomic dysfunction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 Syndrome Drug Repurposing  ·  Project Design Document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46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Biology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"/>
            <a:ext cx="45720" cy="65836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41148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REPURPOSING SURFACE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685800"/>
            <a:ext cx="8065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downstream pathways the agent can actually act 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MECP2 has no druggable pocket. Every viable repurposing strategy operates on the pathways it regulates.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2715768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00200"/>
            <a:ext cx="54864" cy="150876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E8DFD3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34440" y="1801368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IGF-1 Signaling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237744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Synaptic maturation deficits — the trofinetide axis.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64408" y="1600200"/>
            <a:ext cx="2715768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64408" y="1600200"/>
            <a:ext cx="54864" cy="150876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8" name="Shape 15"/>
          <p:cNvSpPr/>
          <p:nvPr/>
        </p:nvSpPr>
        <p:spPr>
          <a:xfrm>
            <a:off x="3447288" y="1783080"/>
            <a:ext cx="502920" cy="502920"/>
          </a:xfrm>
          <a:prstGeom prst="ellipse">
            <a:avLst/>
          </a:prstGeom>
          <a:solidFill>
            <a:srgbClr val="E8DFD3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87452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041648" y="1801368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BDNF / TrkB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447288" y="237744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MECP2 regulates BDNF; many phenotypes track BDNF deficiency.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071616" y="1600200"/>
            <a:ext cx="2715768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71616" y="1600200"/>
            <a:ext cx="54864" cy="150876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4" name="Shape 20"/>
          <p:cNvSpPr/>
          <p:nvPr/>
        </p:nvSpPr>
        <p:spPr>
          <a:xfrm>
            <a:off x="6254496" y="1783080"/>
            <a:ext cx="502920" cy="502920"/>
          </a:xfrm>
          <a:prstGeom prst="ellipse">
            <a:avLst/>
          </a:prstGeom>
          <a:solidFill>
            <a:srgbClr val="E8DFD3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87452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48856" y="1801368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NMDA / Glutamate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254496" y="237744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Excitatory/inhibitory imbalance — a core feature of Rett.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457200" y="3227832"/>
            <a:ext cx="2715768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57200" y="3227832"/>
            <a:ext cx="54864" cy="150876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0" name="Shape 25"/>
          <p:cNvSpPr/>
          <p:nvPr/>
        </p:nvSpPr>
        <p:spPr>
          <a:xfrm>
            <a:off x="640080" y="3410712"/>
            <a:ext cx="502920" cy="502920"/>
          </a:xfrm>
          <a:prstGeom prst="ellipse">
            <a:avLst/>
          </a:prstGeom>
          <a:solidFill>
            <a:srgbClr val="E8DFD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02152"/>
            <a:ext cx="320040" cy="3200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234440" y="342900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KCC2 / NKCC1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640080" y="4005072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GABAergic polarity; relevant to seizures and excitatory tone.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264408" y="3227832"/>
            <a:ext cx="2715768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264408" y="3227832"/>
            <a:ext cx="54864" cy="150876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6" name="Shape 30"/>
          <p:cNvSpPr/>
          <p:nvPr/>
        </p:nvSpPr>
        <p:spPr>
          <a:xfrm>
            <a:off x="3447288" y="3410712"/>
            <a:ext cx="502920" cy="502920"/>
          </a:xfrm>
          <a:prstGeom prst="ellipse">
            <a:avLst/>
          </a:prstGeom>
          <a:solidFill>
            <a:srgbClr val="E8DFD3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3502152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041648" y="342900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Sigma-1 Receptor</a:t>
            </a:r>
            <a:endParaRPr lang="en-US" sz="1500" dirty="0"/>
          </a:p>
        </p:txBody>
      </p:sp>
      <p:sp>
        <p:nvSpPr>
          <p:cNvPr id="39" name="Text 32"/>
          <p:cNvSpPr/>
          <p:nvPr/>
        </p:nvSpPr>
        <p:spPr>
          <a:xfrm>
            <a:off x="3447288" y="4005072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Neuroprotective chaperone — investigational target class.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6071616" y="3227832"/>
            <a:ext cx="2715768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071616" y="3227832"/>
            <a:ext cx="54864" cy="150876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42" name="Shape 35"/>
          <p:cNvSpPr/>
          <p:nvPr/>
        </p:nvSpPr>
        <p:spPr>
          <a:xfrm>
            <a:off x="6254496" y="3410712"/>
            <a:ext cx="502920" cy="502920"/>
          </a:xfrm>
          <a:prstGeom prst="ellipse">
            <a:avLst/>
          </a:prstGeom>
          <a:solidFill>
            <a:srgbClr val="E8DFD3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502152"/>
            <a:ext cx="320040" cy="32004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848856" y="342900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Mitochondrial Function</a:t>
            </a:r>
            <a:endParaRPr lang="en-US" sz="1500" dirty="0"/>
          </a:p>
        </p:txBody>
      </p:sp>
      <p:sp>
        <p:nvSpPr>
          <p:cNvPr id="45" name="Text 37"/>
          <p:cNvSpPr/>
          <p:nvPr/>
        </p:nvSpPr>
        <p:spPr>
          <a:xfrm>
            <a:off x="6254496" y="4005072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Bioenergetic deficits documented in Rett models.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 Syndrome Drug Repurposing  ·  Project Design Document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46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"/>
            <a:ext cx="45720" cy="65836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41148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685800"/>
            <a:ext cx="8065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Targets is the knowledge graph for this use case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200400" cy="320040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DECISION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build a knowledge graph from scratch.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548640" cy="27432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29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Targets already integrates ChEMBL, Reactome, GWAS Catalog, ClinVar, Orphanet, and gene expression atlases under a unified schema with a public GraphQL API.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86200" y="141732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86200" y="1709928"/>
            <a:ext cx="4800600" cy="274320"/>
          </a:xfrm>
          <a:prstGeom prst="rect">
            <a:avLst/>
          </a:prstGeom>
          <a:solidFill>
            <a:srgbClr val="E8DFD3"/>
          </a:solidFill>
          <a:ln/>
        </p:spPr>
      </p:sp>
      <p:sp>
        <p:nvSpPr>
          <p:cNvPr id="16" name="Text 14"/>
          <p:cNvSpPr/>
          <p:nvPr/>
        </p:nvSpPr>
        <p:spPr>
          <a:xfrm>
            <a:off x="3977640" y="1709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1709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17099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86200" y="1984248"/>
            <a:ext cx="4800600" cy="292608"/>
          </a:xfrm>
          <a:prstGeom prst="rect">
            <a:avLst/>
          </a:prstGeom>
          <a:solidFill>
            <a:srgbClr val="EFE7D6"/>
          </a:solidFill>
          <a:ln/>
        </p:spPr>
      </p:sp>
      <p:sp>
        <p:nvSpPr>
          <p:cNvPr id="20" name="Text 18"/>
          <p:cNvSpPr/>
          <p:nvPr/>
        </p:nvSpPr>
        <p:spPr>
          <a:xfrm>
            <a:off x="3977640" y="19842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Targets Platform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19842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Disease–target–drug graph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19842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977640" y="22768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22768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bioactivity, approval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63840" y="22768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86200" y="2569464"/>
            <a:ext cx="4800600" cy="292608"/>
          </a:xfrm>
          <a:prstGeom prst="rect">
            <a:avLst/>
          </a:prstGeom>
          <a:solidFill>
            <a:srgbClr val="EFE7D6"/>
          </a:solidFill>
          <a:ln/>
        </p:spPr>
      </p:sp>
      <p:sp>
        <p:nvSpPr>
          <p:cNvPr id="27" name="Text 25"/>
          <p:cNvSpPr/>
          <p:nvPr/>
        </p:nvSpPr>
        <p:spPr>
          <a:xfrm>
            <a:off x="3977640" y="25694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LINCS L1000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Drug-induced expression sigs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0" y="256946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77640" y="28620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28620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Mecp2-null mouse RNA-seq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0" y="28620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86200" y="3154680"/>
            <a:ext cx="4800600" cy="292608"/>
          </a:xfrm>
          <a:prstGeom prst="rect">
            <a:avLst/>
          </a:prstGeom>
          <a:solidFill>
            <a:srgbClr val="EFE7D6"/>
          </a:solidFill>
          <a:ln/>
        </p:spPr>
      </p:sp>
      <p:sp>
        <p:nvSpPr>
          <p:cNvPr id="34" name="Text 32"/>
          <p:cNvSpPr/>
          <p:nvPr/>
        </p:nvSpPr>
        <p:spPr>
          <a:xfrm>
            <a:off x="3977640" y="31546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0" y="3154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tissue expression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63840" y="31546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977640" y="34472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Protein Atlas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0" y="34472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/ subcellular expression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863840" y="34472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86200" y="3739896"/>
            <a:ext cx="4800600" cy="292608"/>
          </a:xfrm>
          <a:prstGeom prst="rect">
            <a:avLst/>
          </a:prstGeom>
          <a:solidFill>
            <a:srgbClr val="EFE7D6"/>
          </a:solidFill>
          <a:ln/>
        </p:spPr>
      </p:sp>
      <p:sp>
        <p:nvSpPr>
          <p:cNvPr id="41" name="Text 39"/>
          <p:cNvSpPr/>
          <p:nvPr/>
        </p:nvSpPr>
        <p:spPr>
          <a:xfrm>
            <a:off x="3977640" y="37398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69280" y="3739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Protein–protein interactions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863840" y="37398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 4.0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977640" y="40325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OmniPath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0" y="40325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signaling pathways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863840" y="403250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886200" y="43434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RULE  </a:t>
            </a:r>
            <a:pPr indent="0" marL="0">
              <a:buNone/>
            </a:pPr>
            <a:r>
              <a:rPr lang="en-US" sz="10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fetchers and schemas; never raw bulk data. Local store: </a:t>
            </a:r>
            <a:pPr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pPr indent="0" marL="0">
              <a:buNone/>
            </a:pPr>
            <a:r>
              <a:rPr lang="en-US" sz="10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single-file, embedded, fast on analytic joins.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 Syndrome Drug Repurposing  ·  Project Design Document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46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Strategies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"/>
            <a:ext cx="45720" cy="65836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41148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REPURPOSING STRATEGIES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685800"/>
            <a:ext cx="8065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at v0, one deferred — aggregated by ensemble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11480" y="1325880"/>
            <a:ext cx="4078224" cy="16322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325880"/>
            <a:ext cx="54864" cy="163220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46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B4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1545336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1828800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Target-Based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2194560"/>
            <a:ext cx="3758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off-patent drugs that hit MECP2 or its high-confidence pathway neighbors. Operates on the downstream gene set since MECP2 is undruggable.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2647188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GraphQL queries against Open Targets.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54296" y="1325880"/>
            <a:ext cx="4078224" cy="16322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54296" y="1325880"/>
            <a:ext cx="54864" cy="163220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8" name="Text 16"/>
          <p:cNvSpPr/>
          <p:nvPr/>
        </p:nvSpPr>
        <p:spPr>
          <a:xfrm>
            <a:off x="4837176" y="146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B4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85816" y="1545336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37176" y="1828800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 Reversal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37176" y="2194560"/>
            <a:ext cx="3758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Rett signature from MECP2-knockout mouse brain RNA-seq. Score drugs by how strongly LINCS L1000 perturbations reverse it.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37176" y="2647188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mapping — works when mechanism is unclear.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122676"/>
            <a:ext cx="4078224" cy="16322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122676"/>
            <a:ext cx="54864" cy="163220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2598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B4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43000" y="3342132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3625596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Proximity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94360" y="3991356"/>
            <a:ext cx="3758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graph distance between drug-target sets and the Rett gene set on the STRING PPI network.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4443984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Barabási group's published approach.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54296" y="3122676"/>
            <a:ext cx="4078224" cy="1632204"/>
          </a:xfrm>
          <a:prstGeom prst="rect">
            <a:avLst/>
          </a:prstGeom>
          <a:solidFill>
            <a:srgbClr val="EFE7D6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54296" y="3122676"/>
            <a:ext cx="54864" cy="163220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2" name="Text 30"/>
          <p:cNvSpPr/>
          <p:nvPr/>
        </p:nvSpPr>
        <p:spPr>
          <a:xfrm>
            <a:off x="4837176" y="32598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85816" y="3342132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· v1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37176" y="3625596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Structure-Based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837176" y="3991356"/>
            <a:ext cx="3758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off-patent compound libraries against specific structural targets — DiffDock and friends.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37176" y="4443984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structural target earns its keep at v0.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 Syndrome Drug Repurposing  ·  Project Design Document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46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"/>
            <a:ext cx="45720" cy="65836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41148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685800"/>
            <a:ext cx="8065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real preclinical team works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(PI) triages → strategy nodes (bench scientists) execute → synthesizer (results meeting) integrates findings.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743200" cy="64008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triages strategies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43000" y="2651760"/>
            <a:ext cx="21031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43000" y="2651760"/>
            <a:ext cx="45720" cy="73152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Target-Based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090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OpenTargets + ChEMBL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194560"/>
            <a:ext cx="-2377440" cy="457200"/>
          </a:xfrm>
          <a:prstGeom prst="line">
            <a:avLst/>
          </a:prstGeom>
          <a:noFill/>
          <a:ln w="15240">
            <a:solidFill>
              <a:srgbClr val="B47B5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520440" y="2651760"/>
            <a:ext cx="21031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20440" y="2651760"/>
            <a:ext cx="45720" cy="73152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 Reversal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3090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+ LINCS L1000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194560"/>
            <a:ext cx="0" cy="457200"/>
          </a:xfrm>
          <a:prstGeom prst="line">
            <a:avLst/>
          </a:prstGeom>
          <a:noFill/>
          <a:ln w="15240">
            <a:solidFill>
              <a:srgbClr val="B47B5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897880" y="2651760"/>
            <a:ext cx="21031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97880" y="2651760"/>
            <a:ext cx="45720" cy="73152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Proximity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35040" y="3090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PPI · Barabási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194560"/>
            <a:ext cx="2377440" cy="457200"/>
          </a:xfrm>
          <a:prstGeom prst="line">
            <a:avLst/>
          </a:prstGeom>
          <a:noFill/>
          <a:ln w="15240">
            <a:solidFill>
              <a:srgbClr val="B47B5A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200400" y="3703320"/>
            <a:ext cx="2743200" cy="548640"/>
          </a:xfrm>
          <a:prstGeom prst="rect">
            <a:avLst/>
          </a:prstGeom>
          <a:solidFill>
            <a:srgbClr val="B47B5A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0" y="3758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3977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weighted ensemble  ·  v1 hierarchical Bayesian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94560" y="3383280"/>
            <a:ext cx="2377440" cy="320040"/>
          </a:xfrm>
          <a:prstGeom prst="line">
            <a:avLst/>
          </a:prstGeom>
          <a:noFill/>
          <a:ln w="15240">
            <a:solidFill>
              <a:srgbClr val="B47B5A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572000" y="3383280"/>
            <a:ext cx="0" cy="320040"/>
          </a:xfrm>
          <a:prstGeom prst="line">
            <a:avLst/>
          </a:prstGeom>
          <a:noFill/>
          <a:ln w="15240">
            <a:solidFill>
              <a:srgbClr val="B47B5A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949440" y="3383280"/>
            <a:ext cx="-2377440" cy="320040"/>
          </a:xfrm>
          <a:prstGeom prst="line">
            <a:avLst/>
          </a:prstGeom>
          <a:noFill/>
          <a:ln w="15240">
            <a:solidFill>
              <a:srgbClr val="B47B5A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57200" y="43799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Ranked candidate list  +  evidence trail per candidate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 Syndrome Drug Repurposing  ·  Project Design Document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46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"/>
            <a:ext cx="45720" cy="65836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41148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DECISIONS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685800"/>
            <a:ext cx="8065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Means-to-end first, sophistication later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14173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66360" y="141732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16916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SQLite checkpointer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66360" y="169164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infra, full agentic state machine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solidFill>
            <a:srgbClr val="EFE7D6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1720" y="1965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196596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 bridge; matches GMIND patterns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2240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22402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Vercel AI SDK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224028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current practice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solidFill>
            <a:srgbClr val="EFE7D6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2514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31720" y="25146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251460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Embedded, single-file, ideal for analytic joins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2788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31720" y="27889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278892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Disease, Target, Drug, Evidence, Candidate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solidFill>
            <a:srgbClr val="EFE7D6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3063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331720" y="30632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ensemble · v1 PyMC/NumPyro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66360" y="306324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Means-to-end first; sophistication later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" y="3337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31720" y="33375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(API or Bedrock)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66360" y="333756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evidence-trail generation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solidFill>
            <a:srgbClr val="EFE7D6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331720" y="36118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(optional)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66360" y="361188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familiar; nice-to-have for hobby scale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21792" y="3886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BioNeMo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331720" y="38862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to v1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66360" y="388620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Rett-relevant structural target at v0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solidFill>
            <a:srgbClr val="EFE7D6"/>
          </a:solidFill>
          <a:ln/>
        </p:spPr>
      </p:sp>
      <p:sp>
        <p:nvSpPr>
          <p:cNvPr id="50" name="Text 48"/>
          <p:cNvSpPr/>
          <p:nvPr/>
        </p:nvSpPr>
        <p:spPr>
          <a:xfrm>
            <a:off x="621792" y="4160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331720" y="4160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— interface-shaped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66360" y="416052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as servers when external clients matter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621792" y="4434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331720" y="4434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to v1+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166360" y="443484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long-running activities at v0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 Syndrome Drug Repurposing  ·  Project Design Document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46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"/>
            <a:ext cx="45720" cy="65836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41148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ROADMAP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685800"/>
            <a:ext cx="8065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one strategy end-to-end before building the second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188720" y="2834640"/>
            <a:ext cx="6766560" cy="36576"/>
          </a:xfrm>
          <a:prstGeom prst="rect">
            <a:avLst/>
          </a:prstGeom>
          <a:solidFill>
            <a:srgbClr val="D9CFBF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2688336"/>
            <a:ext cx="329184" cy="329184"/>
          </a:xfrm>
          <a:prstGeom prst="ellipse">
            <a:avLst/>
          </a:prstGeom>
          <a:solidFill>
            <a:srgbClr val="B47B5A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24128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Target-Based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1728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WEEKENDS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88720" y="1984248"/>
            <a:ext cx="0" cy="704088"/>
          </a:xfrm>
          <a:prstGeom prst="line">
            <a:avLst/>
          </a:prstGeom>
          <a:noFill/>
          <a:ln w="12700">
            <a:solidFill>
              <a:srgbClr val="D9C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10896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Targets · ChEMBL · DuckDB · LangGraph node · FastAPI/SSE · Next.js UI.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15768" y="2688336"/>
            <a:ext cx="329184" cy="329184"/>
          </a:xfrm>
          <a:prstGeom prst="ellipse">
            <a:avLst/>
          </a:prstGeom>
          <a:solidFill>
            <a:srgbClr val="B47B5A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15768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5740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 Reversal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57400" y="1728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880360" y="1984248"/>
            <a:ext cx="0" cy="704088"/>
          </a:xfrm>
          <a:prstGeom prst="line">
            <a:avLst/>
          </a:prstGeom>
          <a:noFill/>
          <a:ln w="12700">
            <a:solidFill>
              <a:srgbClr val="D9C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310896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LINCS L1000 fetcher · Rett signature from GEO · weighted connectivity scoring.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07408" y="2688336"/>
            <a:ext cx="329184" cy="329184"/>
          </a:xfrm>
          <a:prstGeom prst="ellipse">
            <a:avLst/>
          </a:prstGeom>
          <a:solidFill>
            <a:srgbClr val="B47B5A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07408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Proximity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49040" y="1728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0" y="1984248"/>
            <a:ext cx="0" cy="704088"/>
          </a:xfrm>
          <a:prstGeom prst="line">
            <a:avLst/>
          </a:prstGeom>
          <a:noFill/>
          <a:ln w="12700">
            <a:solidFill>
              <a:srgbClr val="D9C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310896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PPI ingest · closest-distance Z-score against Rett gene set.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99048" y="2688336"/>
            <a:ext cx="329184" cy="329184"/>
          </a:xfrm>
          <a:prstGeom prst="ellipse">
            <a:avLst/>
          </a:prstGeom>
          <a:solidFill>
            <a:srgbClr val="B47B5A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99048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Synthesizer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1728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63640" y="1984248"/>
            <a:ext cx="0" cy="704088"/>
          </a:xfrm>
          <a:prstGeom prst="line">
            <a:avLst/>
          </a:prstGeom>
          <a:noFill/>
          <a:ln w="12700">
            <a:solidFill>
              <a:srgbClr val="D9C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310896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Rank-normalize each strategy · weighted ensemble · oracle calibration check.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790688" y="2688336"/>
            <a:ext cx="329184" cy="329184"/>
          </a:xfrm>
          <a:prstGeom prst="ellipse">
            <a:avLst/>
          </a:prstGeom>
          <a:solidFill>
            <a:srgbClr val="B47B5A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90688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+ Beyond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32320" y="1728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5+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955280" y="1984248"/>
            <a:ext cx="0" cy="704088"/>
          </a:xfrm>
          <a:prstGeom prst="line">
            <a:avLst/>
          </a:prstGeom>
          <a:noFill/>
          <a:ln w="12700">
            <a:solidFill>
              <a:srgbClr val="D9C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86600" y="310896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Bayes (PyMC) · active learning · BioNeMo · MCP servers.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  ·  Ship one strategy end-to-end before the next. Avoids dying in a half-built /strategies directory.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 Syndrome Drug Repurposing  ·  Project Design Document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46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Validation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"/>
            <a:ext cx="45720" cy="65836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41148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PLAN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685800"/>
            <a:ext cx="8065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Trofinetide oracle + a richer test bed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CLASSES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Literature-supported repurposing classes for Rett. The top-20 should include at least one compound from each.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4348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86000"/>
            <a:ext cx="54864" cy="38404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86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IGF-1 axis modulators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2286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trofinetide territory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4348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43200"/>
            <a:ext cx="54864" cy="38404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43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BDNF / TrkB activators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27432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neurotrophic signaling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4348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00400"/>
            <a:ext cx="54864" cy="38404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004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NMDA receptor modulators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0" y="32004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ketamine and analogs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44348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657600"/>
            <a:ext cx="54864" cy="38404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576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Sigma-1 receptor agonists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08960" y="36576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neuroprotective chaperone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44348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114800"/>
            <a:ext cx="54864" cy="38404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14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KCC2 enhancers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108960" y="41148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chloride balance restoration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74920" y="1417320"/>
            <a:ext cx="36118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74920" y="1417320"/>
            <a:ext cx="54864" cy="1508760"/>
          </a:xfrm>
          <a:prstGeom prst="rect">
            <a:avLst/>
          </a:prstGeom>
          <a:solidFill>
            <a:srgbClr val="B47B5A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600200"/>
            <a:ext cx="365760" cy="36576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71500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Top-K Eyeball Test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5257800" y="2103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candidate in the top 20: can the developer tell a mechanistic story about why the system surfaced it? If not, the system is a black box, not a learning tool.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074920" y="3108960"/>
            <a:ext cx="36118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074920" y="3108960"/>
            <a:ext cx="54864" cy="1508760"/>
          </a:xfrm>
          <a:prstGeom prst="rect">
            <a:avLst/>
          </a:prstGeom>
          <a:solidFill>
            <a:srgbClr val="B47B5A"/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3291840"/>
            <a:ext cx="365760" cy="36576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715000" y="3291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Pathway Plausibility Report</a:t>
            </a:r>
            <a:endParaRPr lang="en-US" sz="1500" dirty="0"/>
          </a:p>
        </p:txBody>
      </p:sp>
      <p:sp>
        <p:nvSpPr>
          <p:cNvPr id="40" name="Text 36"/>
          <p:cNvSpPr/>
          <p:nvPr/>
        </p:nvSpPr>
        <p:spPr>
          <a:xfrm>
            <a:off x="5257800" y="3794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phase, generate a markdown report mapping ranked candidates to known Rett pathways. The diff between phases tells the story of what each new strategy added.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 Syndrome Drug Repurposing  ·  Project Design Document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46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Success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"/>
            <a:ext cx="45720" cy="658368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41148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685800"/>
            <a:ext cx="8065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means to ship v0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54864" cy="137160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9047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B4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34440" y="1527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Oracle classes surface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198424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ranked candidates include at least one compound from each validated class — IGF-1, BDNF, NMDA, sigma-1.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325880"/>
            <a:ext cx="54864" cy="137160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49047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B4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40680" y="1527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Mechanistic explanations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198424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can explain any top-20 candidate's biological rationale in 2–3 sentences without consulting external sources.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80360"/>
            <a:ext cx="54864" cy="137160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4495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B4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34440" y="30815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Public, reproducible repo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53872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is public, README tells the trofinetide validation story, and a stranger could clone and run end-to-end with one command.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88036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880360"/>
            <a:ext cx="54864" cy="137160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04495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B4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440680" y="30815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Substantive learning journal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46320" y="353872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four dated notebooks in /journal with substantive biology writeups — a small textbook in the making.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succeeds if the hierarchical Bayesian aggregator produces calibrated uncertainty that differentiates top candidates — and the system can be driven from an external Claude client via MCP.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v0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decision-loop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B4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lab-grade twin.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58368" y="2606040"/>
            <a:ext cx="1097280" cy="36576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7" name="Shape 5"/>
          <p:cNvSpPr/>
          <p:nvPr/>
        </p:nvSpPr>
        <p:spPr>
          <a:xfrm>
            <a:off x="525780" y="2834640"/>
            <a:ext cx="2606040" cy="1371600"/>
          </a:xfrm>
          <a:prstGeom prst="rect">
            <a:avLst/>
          </a:prstGeom>
          <a:solidFill>
            <a:srgbClr val="13102F"/>
          </a:solidFill>
          <a:ln/>
        </p:spPr>
      </p:sp>
      <p:sp>
        <p:nvSpPr>
          <p:cNvPr id="8" name="Shape 6"/>
          <p:cNvSpPr/>
          <p:nvPr/>
        </p:nvSpPr>
        <p:spPr>
          <a:xfrm>
            <a:off x="525780" y="2834640"/>
            <a:ext cx="45720" cy="137160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" y="2999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86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Bayes + BioNeMo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866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aggregation as a calibrated posterior. DiffDock NIM scoring of top candidates against TrkB and sigma-1.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68980" y="2834640"/>
            <a:ext cx="2606040" cy="1371600"/>
          </a:xfrm>
          <a:prstGeom prst="rect">
            <a:avLst/>
          </a:prstGeom>
          <a:solidFill>
            <a:srgbClr val="13102F"/>
          </a:solidFill>
          <a:ln/>
        </p:spPr>
      </p:sp>
      <p:sp>
        <p:nvSpPr>
          <p:cNvPr id="13" name="Shape 11"/>
          <p:cNvSpPr/>
          <p:nvPr/>
        </p:nvSpPr>
        <p:spPr>
          <a:xfrm>
            <a:off x="3268980" y="2834640"/>
            <a:ext cx="45720" cy="137160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4" name="Text 12"/>
          <p:cNvSpPr/>
          <p:nvPr/>
        </p:nvSpPr>
        <p:spPr>
          <a:xfrm>
            <a:off x="3451860" y="2999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518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MCP-driven agency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5186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each strategy as an MCP server so an external Claude client can drive experiments end-to-end.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12180" y="2834640"/>
            <a:ext cx="2606040" cy="1371600"/>
          </a:xfrm>
          <a:prstGeom prst="rect">
            <a:avLst/>
          </a:prstGeom>
          <a:solidFill>
            <a:srgbClr val="13102F"/>
          </a:solidFill>
          <a:ln/>
        </p:spPr>
      </p:sp>
      <p:sp>
        <p:nvSpPr>
          <p:cNvPr id="18" name="Shape 16"/>
          <p:cNvSpPr/>
          <p:nvPr/>
        </p:nvSpPr>
        <p:spPr>
          <a:xfrm>
            <a:off x="6012180" y="2834640"/>
            <a:ext cx="45720" cy="1371600"/>
          </a:xfrm>
          <a:prstGeom prst="rect">
            <a:avLst/>
          </a:prstGeom>
          <a:solidFill>
            <a:srgbClr val="B47B5A"/>
          </a:solidFill>
          <a:ln/>
        </p:spPr>
      </p:sp>
      <p:sp>
        <p:nvSpPr>
          <p:cNvPr id="19" name="Text 17"/>
          <p:cNvSpPr/>
          <p:nvPr/>
        </p:nvSpPr>
        <p:spPr>
          <a:xfrm>
            <a:off x="6195060" y="2999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950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Multi-disease generalization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9506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rare disease — Friedreich's ataxia, Niemann-Pick C — and discover what was Rett-specific vs. reusable.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663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Finian O'Neill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46634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B4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Rett Syndrome Drug Repurposing — Project Design</dc:title>
  <dc:subject>PptxGenJS Presentation</dc:subject>
  <dc:creator>Finian O'Neill</dc:creator>
  <cp:lastModifiedBy>Finian O'Neill</cp:lastModifiedBy>
  <cp:revision>1</cp:revision>
  <dcterms:created xsi:type="dcterms:W3CDTF">2026-04-27T02:11:14Z</dcterms:created>
  <dcterms:modified xsi:type="dcterms:W3CDTF">2026-04-27T02:11:14Z</dcterms:modified>
</cp:coreProperties>
</file>